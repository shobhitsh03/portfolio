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29348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346" y="393957"/>
            <a:ext cx="10611306" cy="862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2425" y="1456688"/>
            <a:ext cx="8974455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29348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58863" y="1290294"/>
            <a:ext cx="7275195" cy="12814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945"/>
              </a:lnSpc>
              <a:spcBef>
                <a:spcPts val="100"/>
              </a:spcBef>
            </a:pPr>
            <a:r>
              <a:rPr dirty="0" sz="4400" spc="-10">
                <a:latin typeface="Times New Roman"/>
                <a:cs typeface="Times New Roman"/>
              </a:rPr>
              <a:t>RouteShare:</a:t>
            </a:r>
            <a:endParaRPr sz="4400">
              <a:latin typeface="Times New Roman"/>
              <a:cs typeface="Times New Roman"/>
            </a:endParaRPr>
          </a:p>
          <a:p>
            <a:pPr algn="ctr">
              <a:lnSpc>
                <a:spcPts val="4945"/>
              </a:lnSpc>
              <a:tabLst>
                <a:tab pos="3446145" algn="l"/>
              </a:tabLst>
            </a:pPr>
            <a:r>
              <a:rPr dirty="0" sz="4400">
                <a:latin typeface="Times New Roman"/>
                <a:cs typeface="Times New Roman"/>
              </a:rPr>
              <a:t>An</a:t>
            </a:r>
            <a:r>
              <a:rPr dirty="0" sz="4400" spc="-25">
                <a:latin typeface="Times New Roman"/>
                <a:cs typeface="Times New Roman"/>
              </a:rPr>
              <a:t> </a:t>
            </a:r>
            <a:r>
              <a:rPr dirty="0" sz="4400" spc="-10">
                <a:latin typeface="Times New Roman"/>
                <a:cs typeface="Times New Roman"/>
              </a:rPr>
              <a:t>Intelligent</a:t>
            </a:r>
            <a:r>
              <a:rPr dirty="0" sz="4400">
                <a:latin typeface="Times New Roman"/>
                <a:cs typeface="Times New Roman"/>
              </a:rPr>
              <a:t>	Carpool</a:t>
            </a:r>
            <a:r>
              <a:rPr dirty="0" sz="4400" spc="-95">
                <a:latin typeface="Times New Roman"/>
                <a:cs typeface="Times New Roman"/>
              </a:rPr>
              <a:t> </a:t>
            </a:r>
            <a:r>
              <a:rPr dirty="0" sz="4400" spc="-10">
                <a:latin typeface="Times New Roman"/>
                <a:cs typeface="Times New Roman"/>
              </a:rPr>
              <a:t>System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64102" y="3385765"/>
            <a:ext cx="16827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Calibri"/>
                <a:cs typeface="Calibri"/>
              </a:rPr>
              <a:t>Presented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94618" y="4255604"/>
            <a:ext cx="2666365" cy="603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Shobhit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Shukla(04618002722</a:t>
            </a:r>
            <a:r>
              <a:rPr dirty="0" sz="1800" spc="-10" b="1">
                <a:latin typeface="Times New Roman"/>
                <a:cs typeface="Times New Roman"/>
              </a:rPr>
              <a:t>) </a:t>
            </a:r>
            <a:r>
              <a:rPr dirty="0" sz="1600" spc="-10" b="1">
                <a:latin typeface="Times New Roman"/>
                <a:cs typeface="Times New Roman"/>
              </a:rPr>
              <a:t>Kumar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Tejaswa(14718002722</a:t>
            </a:r>
            <a:r>
              <a:rPr dirty="0" sz="1800" spc="-10" b="1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221598" y="4255604"/>
            <a:ext cx="1863089" cy="60325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210"/>
              </a:spcBef>
            </a:pPr>
            <a:r>
              <a:rPr dirty="0" sz="1800">
                <a:latin typeface="Calibri"/>
                <a:cs typeface="Calibri"/>
              </a:rPr>
              <a:t>Under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Guidance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00" spc="-25" b="1">
                <a:latin typeface="Times New Roman"/>
                <a:cs typeface="Times New Roman"/>
              </a:rPr>
              <a:t>Mr.Vibhav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Ranjan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4821" y="393957"/>
            <a:ext cx="31394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42587" y="1114778"/>
            <a:ext cx="9697720" cy="504952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865"/>
              </a:spcBef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Problem</a:t>
            </a:r>
            <a:r>
              <a:rPr dirty="0" u="sng" sz="1400" spc="-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Definition</a:t>
            </a:r>
            <a:endParaRPr sz="1400">
              <a:latin typeface="Arial"/>
              <a:cs typeface="Arial"/>
            </a:endParaRPr>
          </a:p>
          <a:p>
            <a:pPr marL="25400" marR="5080">
              <a:lnSpc>
                <a:spcPts val="1440"/>
              </a:lnSpc>
              <a:spcBef>
                <a:spcPts val="1010"/>
              </a:spcBef>
            </a:pPr>
            <a:r>
              <a:rPr dirty="0" sz="1400">
                <a:latin typeface="Arial MT"/>
                <a:cs typeface="Arial MT"/>
              </a:rPr>
              <a:t>Urban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transportation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faces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issues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like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congestion,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long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travel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times,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high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commuting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costs,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while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traditional</a:t>
            </a:r>
            <a:r>
              <a:rPr dirty="0" sz="1400" spc="2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ride- </a:t>
            </a:r>
            <a:r>
              <a:rPr dirty="0" sz="1400">
                <a:latin typeface="Arial MT"/>
                <a:cs typeface="Arial MT"/>
              </a:rPr>
              <a:t>sharing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lacks optimized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matching,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real-</a:t>
            </a:r>
            <a:r>
              <a:rPr dirty="0" sz="1400">
                <a:latin typeface="Arial MT"/>
                <a:cs typeface="Arial MT"/>
              </a:rPr>
              <a:t>time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updates,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reliable </a:t>
            </a:r>
            <a:r>
              <a:rPr dirty="0" sz="1400" spc="-10">
                <a:latin typeface="Arial MT"/>
                <a:cs typeface="Arial MT"/>
              </a:rPr>
              <a:t>verification.</a:t>
            </a:r>
            <a:endParaRPr sz="1400">
              <a:latin typeface="Arial MT"/>
              <a:cs typeface="Arial MT"/>
            </a:endParaRPr>
          </a:p>
          <a:p>
            <a:pPr marL="25400" marR="5080">
              <a:lnSpc>
                <a:spcPts val="1440"/>
              </a:lnSpc>
              <a:spcBef>
                <a:spcPts val="1010"/>
              </a:spcBef>
            </a:pP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19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problem</a:t>
            </a:r>
            <a:r>
              <a:rPr dirty="0" sz="1400" spc="2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is</a:t>
            </a:r>
            <a:r>
              <a:rPr dirty="0" sz="1400" spc="19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2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develop</a:t>
            </a:r>
            <a:r>
              <a:rPr dirty="0" sz="1400" spc="19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</a:t>
            </a:r>
            <a:r>
              <a:rPr dirty="0" sz="1400" spc="1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AI-</a:t>
            </a:r>
            <a:r>
              <a:rPr dirty="0" sz="1400" b="1">
                <a:latin typeface="Arial"/>
                <a:cs typeface="Arial"/>
              </a:rPr>
              <a:t>driven</a:t>
            </a:r>
            <a:r>
              <a:rPr dirty="0" sz="1400" spc="2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carpool</a:t>
            </a:r>
            <a:r>
              <a:rPr dirty="0" sz="1400" spc="19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system</a:t>
            </a:r>
            <a:r>
              <a:rPr dirty="0" sz="1400" spc="2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that</a:t>
            </a:r>
            <a:r>
              <a:rPr dirty="0" sz="1400" spc="2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delivers</a:t>
            </a:r>
            <a:r>
              <a:rPr dirty="0" sz="1400" spc="19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optimized</a:t>
            </a:r>
            <a:r>
              <a:rPr dirty="0" sz="1400" spc="20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matching,</a:t>
            </a:r>
            <a:r>
              <a:rPr dirty="0" sz="1400" spc="19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secure</a:t>
            </a:r>
            <a:r>
              <a:rPr dirty="0" sz="1400" spc="20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transactions, real-</a:t>
            </a:r>
            <a:r>
              <a:rPr dirty="0" sz="1400" b="1">
                <a:latin typeface="Arial"/>
                <a:cs typeface="Arial"/>
              </a:rPr>
              <a:t>time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tracking,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smooth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user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experience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for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affordable,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efficient,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reliable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daily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commuting.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400">
              <a:latin typeface="Arial"/>
              <a:cs typeface="Arial"/>
            </a:endParaRPr>
          </a:p>
          <a:p>
            <a:pPr marL="25400" marR="7879080">
              <a:lnSpc>
                <a:spcPct val="145500"/>
              </a:lnSpc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Feasibility</a:t>
            </a:r>
            <a:r>
              <a:rPr dirty="0" u="sng" sz="1400" spc="-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4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Study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Technical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Feasibility: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spcBef>
                <a:spcPts val="76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 spc="-10">
                <a:latin typeface="Arial MT"/>
                <a:cs typeface="Arial MT"/>
              </a:rPr>
              <a:t>AI-</a:t>
            </a:r>
            <a:r>
              <a:rPr dirty="0" sz="1400">
                <a:latin typeface="Arial MT"/>
                <a:cs typeface="Arial MT"/>
              </a:rPr>
              <a:t>based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routing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integrated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using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OpenRouteService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geospatial</a:t>
            </a:r>
            <a:r>
              <a:rPr dirty="0" sz="1400" spc="-10">
                <a:latin typeface="Arial MT"/>
                <a:cs typeface="Arial MT"/>
              </a:rPr>
              <a:t> algorithms.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spcBef>
                <a:spcPts val="76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Secure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authentication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implemented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via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JWT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encrypted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data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handling.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spcBef>
                <a:spcPts val="76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Integrates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Stripe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AI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modules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Mistral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smooth</a:t>
            </a:r>
            <a:r>
              <a:rPr dirty="0" sz="1400" spc="-10">
                <a:latin typeface="Arial MT"/>
                <a:cs typeface="Arial MT"/>
              </a:rPr>
              <a:t> operations.</a:t>
            </a:r>
            <a:endParaRPr sz="14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765"/>
              </a:spcBef>
            </a:pPr>
            <a:r>
              <a:rPr dirty="0" sz="1400" b="1">
                <a:latin typeface="Arial"/>
                <a:cs typeface="Arial"/>
              </a:rPr>
              <a:t>Economic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Feasibility: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spcBef>
                <a:spcPts val="76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Uses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mostly </a:t>
            </a:r>
            <a:r>
              <a:rPr dirty="0" sz="1400" spc="-10">
                <a:latin typeface="Arial MT"/>
                <a:cs typeface="Arial MT"/>
              </a:rPr>
              <a:t>open-</a:t>
            </a:r>
            <a:r>
              <a:rPr dirty="0" sz="1400">
                <a:latin typeface="Arial MT"/>
                <a:cs typeface="Arial MT"/>
              </a:rPr>
              <a:t>source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tools,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reducing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dependency on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paid </a:t>
            </a:r>
            <a:r>
              <a:rPr dirty="0" sz="1400" spc="-10">
                <a:latin typeface="Arial MT"/>
                <a:cs typeface="Arial MT"/>
              </a:rPr>
              <a:t>services.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spcBef>
                <a:spcPts val="76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>
                <a:latin typeface="Arial MT"/>
                <a:cs typeface="Arial MT"/>
              </a:rPr>
              <a:t>Runs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standard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hardware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(CPU/GPU),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reducing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additional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costs.</a:t>
            </a:r>
            <a:endParaRPr sz="14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765"/>
              </a:spcBef>
            </a:pPr>
            <a:r>
              <a:rPr dirty="0" sz="1400" b="1">
                <a:latin typeface="Arial"/>
                <a:cs typeface="Arial"/>
              </a:rPr>
              <a:t>Operational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Feasibility: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spcBef>
                <a:spcPts val="76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 spc="-10">
                <a:latin typeface="Arial MT"/>
                <a:cs typeface="Arial MT"/>
              </a:rPr>
              <a:t>User-</a:t>
            </a:r>
            <a:r>
              <a:rPr dirty="0" sz="1400">
                <a:latin typeface="Arial MT"/>
                <a:cs typeface="Arial MT"/>
              </a:rPr>
              <a:t>friendly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interface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simple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ride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creation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booking</a:t>
            </a:r>
            <a:r>
              <a:rPr dirty="0" sz="1400" spc="-10">
                <a:latin typeface="Arial MT"/>
                <a:cs typeface="Arial MT"/>
              </a:rPr>
              <a:t> options.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spcBef>
                <a:spcPts val="76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 spc="-10">
                <a:latin typeface="Arial MT"/>
                <a:cs typeface="Arial MT"/>
              </a:rPr>
              <a:t>Real-</a:t>
            </a:r>
            <a:r>
              <a:rPr dirty="0" sz="1400">
                <a:latin typeface="Arial MT"/>
                <a:cs typeface="Arial MT"/>
              </a:rPr>
              <a:t>time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tracking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secured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payments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increase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reliability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0">
                <a:latin typeface="Arial MT"/>
                <a:cs typeface="Arial MT"/>
              </a:rPr>
              <a:t> convenience.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6725" y="707327"/>
            <a:ext cx="246507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uFill>
                  <a:solidFill>
                    <a:srgbClr val="000000"/>
                  </a:solidFill>
                </a:uFill>
              </a:rPr>
              <a:t>Need</a:t>
            </a:r>
            <a:r>
              <a:rPr dirty="0" u="sng" sz="1800" spc="-3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</a:rPr>
              <a:t>and</a:t>
            </a:r>
            <a:r>
              <a:rPr dirty="0" u="sng" sz="1800" spc="-30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</a:rPr>
              <a:t>Significance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569575" y="981647"/>
            <a:ext cx="9526270" cy="427672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37160" indent="-88900">
              <a:lnSpc>
                <a:spcPct val="100000"/>
              </a:lnSpc>
              <a:spcBef>
                <a:spcPts val="835"/>
              </a:spcBef>
              <a:buSzPct val="94444"/>
              <a:buChar char="•"/>
              <a:tabLst>
                <a:tab pos="137160" algn="l"/>
              </a:tabLst>
            </a:pPr>
            <a:r>
              <a:rPr dirty="0" sz="1800">
                <a:latin typeface="Arial MT"/>
                <a:cs typeface="Arial MT"/>
              </a:rPr>
              <a:t>Modern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commuters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expects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reliable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b="1">
                <a:latin typeface="Arial"/>
                <a:cs typeface="Arial"/>
              </a:rPr>
              <a:t>affordable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time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efficient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travel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options.</a:t>
            </a:r>
            <a:endParaRPr sz="1800">
              <a:latin typeface="Arial MT"/>
              <a:cs typeface="Arial MT"/>
            </a:endParaRPr>
          </a:p>
          <a:p>
            <a:pPr marL="69850" marR="5080" indent="-21590">
              <a:lnSpc>
                <a:spcPts val="2520"/>
              </a:lnSpc>
              <a:spcBef>
                <a:spcPts val="520"/>
              </a:spcBef>
              <a:buSzPct val="94444"/>
              <a:buChar char="•"/>
              <a:tabLst>
                <a:tab pos="69850" algn="l"/>
                <a:tab pos="137160" algn="l"/>
              </a:tabLst>
            </a:pP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Existing</a:t>
            </a:r>
            <a:r>
              <a:rPr dirty="0" sz="1800" spc="1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ride-</a:t>
            </a:r>
            <a:r>
              <a:rPr dirty="0" sz="1800">
                <a:latin typeface="Arial MT"/>
                <a:cs typeface="Arial MT"/>
              </a:rPr>
              <a:t>sharing</a:t>
            </a:r>
            <a:r>
              <a:rPr dirty="0" sz="1800" spc="1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platforms</a:t>
            </a:r>
            <a:r>
              <a:rPr dirty="0" sz="1800" spc="1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lack</a:t>
            </a:r>
            <a:r>
              <a:rPr dirty="0" sz="1800" spc="160">
                <a:latin typeface="Arial MT"/>
                <a:cs typeface="Arial MT"/>
              </a:rPr>
              <a:t> </a:t>
            </a:r>
            <a:r>
              <a:rPr dirty="0" sz="1800" spc="-10" b="1">
                <a:latin typeface="Arial"/>
                <a:cs typeface="Arial"/>
              </a:rPr>
              <a:t>AI-</a:t>
            </a:r>
            <a:r>
              <a:rPr dirty="0" sz="1800" b="1">
                <a:latin typeface="Arial"/>
                <a:cs typeface="Arial"/>
              </a:rPr>
              <a:t>driven</a:t>
            </a:r>
            <a:r>
              <a:rPr dirty="0" sz="1800" spc="1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route</a:t>
            </a:r>
            <a:r>
              <a:rPr dirty="0" sz="1800" spc="1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optimization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1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proper</a:t>
            </a:r>
            <a:r>
              <a:rPr dirty="0" sz="1800" spc="1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1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verification,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real-</a:t>
            </a:r>
            <a:r>
              <a:rPr dirty="0" sz="1800">
                <a:latin typeface="Arial MT"/>
                <a:cs typeface="Arial MT"/>
              </a:rPr>
              <a:t>time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coordination.</a:t>
            </a:r>
            <a:r>
              <a:rPr dirty="0" sz="2500" spc="-10">
                <a:latin typeface="Arial MT"/>
                <a:cs typeface="Arial MT"/>
              </a:rPr>
              <a:t>.</a:t>
            </a:r>
            <a:endParaRPr sz="2500">
              <a:latin typeface="Arial MT"/>
              <a:cs typeface="Arial MT"/>
            </a:endParaRPr>
          </a:p>
          <a:p>
            <a:pPr marL="69850" marR="5080" indent="-66040">
              <a:lnSpc>
                <a:spcPts val="1900"/>
              </a:lnSpc>
              <a:spcBef>
                <a:spcPts val="969"/>
              </a:spcBef>
              <a:buSzPct val="94444"/>
              <a:buChar char="•"/>
              <a:tabLst>
                <a:tab pos="69850" algn="l"/>
                <a:tab pos="92710" algn="l"/>
              </a:tabLst>
            </a:pP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intelligent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carpool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enhances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efficiency,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safety,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travel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convenience</a:t>
            </a:r>
            <a:r>
              <a:rPr dirty="0" sz="1800" spc="25" b="1">
                <a:latin typeface="Arial"/>
                <a:cs typeface="Arial"/>
              </a:rPr>
              <a:t> </a:t>
            </a:r>
            <a:r>
              <a:rPr dirty="0" sz="1800" spc="-10">
                <a:latin typeface="Arial MT"/>
                <a:cs typeface="Arial MT"/>
              </a:rPr>
              <a:t>through </a:t>
            </a:r>
            <a:r>
              <a:rPr dirty="0" sz="1800">
                <a:latin typeface="Arial MT"/>
                <a:cs typeface="Arial MT"/>
              </a:rPr>
              <a:t>smart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matching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automation.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sz="1800">
              <a:latin typeface="Arial MT"/>
              <a:cs typeface="Arial MT"/>
            </a:endParaRPr>
          </a:p>
          <a:p>
            <a:pPr marL="69850">
              <a:lnSpc>
                <a:spcPct val="100000"/>
              </a:lnSpc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Objectives</a:t>
            </a:r>
            <a:endParaRPr sz="1800">
              <a:latin typeface="Arial"/>
              <a:cs typeface="Arial"/>
            </a:endParaRPr>
          </a:p>
          <a:p>
            <a:pPr algn="just" marL="78105" marR="1910080">
              <a:lnSpc>
                <a:spcPct val="134100"/>
              </a:lnSpc>
            </a:pPr>
            <a:r>
              <a:rPr dirty="0" sz="1800" spc="-90">
                <a:latin typeface="Arial MT"/>
                <a:cs typeface="Arial MT"/>
              </a:rPr>
              <a:t>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develop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 b="1">
                <a:latin typeface="Arial"/>
                <a:cs typeface="Arial"/>
              </a:rPr>
              <a:t>AI-</a:t>
            </a:r>
            <a:r>
              <a:rPr dirty="0" sz="1800" b="1">
                <a:latin typeface="Arial"/>
                <a:cs typeface="Arial"/>
              </a:rPr>
              <a:t>based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intelligent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carpool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system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daily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commuters. </a:t>
            </a:r>
            <a:r>
              <a:rPr dirty="0" sz="1800" spc="-90">
                <a:latin typeface="Arial MT"/>
                <a:cs typeface="Arial MT"/>
              </a:rPr>
              <a:t>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ride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matches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optimized,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reliable,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time-efficient</a:t>
            </a:r>
            <a:r>
              <a:rPr dirty="0" sz="1800" spc="-10">
                <a:latin typeface="Arial MT"/>
                <a:cs typeface="Arial MT"/>
              </a:rPr>
              <a:t>. </a:t>
            </a:r>
            <a:r>
              <a:rPr dirty="0" sz="1800" spc="-90">
                <a:latin typeface="Arial MT"/>
                <a:cs typeface="Arial MT"/>
              </a:rPr>
              <a:t>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integrate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 b="1">
                <a:latin typeface="Arial"/>
                <a:cs typeface="Arial"/>
              </a:rPr>
              <a:t>real-</a:t>
            </a:r>
            <a:r>
              <a:rPr dirty="0" sz="1800" b="1">
                <a:latin typeface="Arial"/>
                <a:cs typeface="Arial"/>
              </a:rPr>
              <a:t>time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tracking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smart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routing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improved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accuracy.</a:t>
            </a:r>
            <a:endParaRPr sz="1800">
              <a:latin typeface="Arial MT"/>
              <a:cs typeface="Arial MT"/>
            </a:endParaRPr>
          </a:p>
          <a:p>
            <a:pPr marL="78105" marR="293370" indent="13970">
              <a:lnSpc>
                <a:spcPct val="134100"/>
              </a:lnSpc>
            </a:pPr>
            <a:r>
              <a:rPr dirty="0" sz="1800" spc="-90">
                <a:latin typeface="Arial MT"/>
                <a:cs typeface="Arial MT"/>
              </a:rPr>
              <a:t>To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offer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secure,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easy-to-</a:t>
            </a:r>
            <a:r>
              <a:rPr dirty="0" sz="1800" b="1">
                <a:latin typeface="Arial"/>
                <a:cs typeface="Arial"/>
              </a:rPr>
              <a:t>use,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seamless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interface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both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drivers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passengers. </a:t>
            </a:r>
            <a:r>
              <a:rPr dirty="0" sz="1800" spc="-90">
                <a:latin typeface="Arial MT"/>
                <a:cs typeface="Arial MT"/>
              </a:rPr>
              <a:t>To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ensure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 b="1">
                <a:latin typeface="Arial"/>
                <a:cs typeface="Arial"/>
              </a:rPr>
              <a:t>safety,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transparency,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user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trust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throughout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ride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process.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0764" rIns="0" bIns="0" rtlCol="0" vert="horz">
            <a:spAutoFit/>
          </a:bodyPr>
          <a:lstStyle/>
          <a:p>
            <a:pPr marL="2567305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LITERATURE</a:t>
            </a:r>
            <a:r>
              <a:rPr dirty="0" spc="-155"/>
              <a:t> </a:t>
            </a:r>
            <a:r>
              <a:rPr dirty="0" spc="-10"/>
              <a:t>SURVEY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66221" y="1295872"/>
            <a:ext cx="7406640" cy="4000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Existing</a:t>
            </a:r>
            <a:r>
              <a:rPr dirty="0" u="sng" sz="1800" spc="-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Theoretical</a:t>
            </a:r>
            <a:r>
              <a:rPr dirty="0" u="sng" sz="1800" spc="-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&amp;</a:t>
            </a:r>
            <a:r>
              <a:rPr dirty="0" u="sng" sz="1800" spc="-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Methodological</a:t>
            </a:r>
            <a:r>
              <a:rPr dirty="0" u="sng" sz="1800" spc="-6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Contributions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800">
              <a:latin typeface="Arial"/>
              <a:cs typeface="Arial"/>
            </a:endParaRPr>
          </a:p>
          <a:p>
            <a:pPr marL="202565" indent="-193675">
              <a:lnSpc>
                <a:spcPct val="100000"/>
              </a:lnSpc>
              <a:buSzPct val="94444"/>
              <a:buAutoNum type="arabicPeriod"/>
              <a:tabLst>
                <a:tab pos="202565" algn="l"/>
              </a:tabLst>
            </a:pPr>
            <a:r>
              <a:rPr dirty="0" sz="1800" b="1">
                <a:latin typeface="Arial"/>
                <a:cs typeface="Arial"/>
              </a:rPr>
              <a:t>Haversine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Formula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Implementation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(Sinnott,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1984)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750" b="1">
                <a:latin typeface="Arial"/>
                <a:cs typeface="Arial"/>
              </a:rPr>
              <a:t>Core</a:t>
            </a:r>
            <a:r>
              <a:rPr dirty="0" sz="1750" spc="-60" b="1">
                <a:latin typeface="Arial"/>
                <a:cs typeface="Arial"/>
              </a:rPr>
              <a:t> </a:t>
            </a:r>
            <a:r>
              <a:rPr dirty="0" sz="1750" spc="-10" b="1">
                <a:latin typeface="Arial"/>
                <a:cs typeface="Arial"/>
              </a:rPr>
              <a:t>Contribution:</a:t>
            </a:r>
            <a:r>
              <a:rPr dirty="0" sz="1750" spc="-50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Accurate</a:t>
            </a:r>
            <a:r>
              <a:rPr dirty="0" sz="1750" spc="-5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distance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calculation</a:t>
            </a:r>
            <a:r>
              <a:rPr dirty="0" sz="1750" spc="-5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on</a:t>
            </a:r>
            <a:r>
              <a:rPr dirty="0" sz="1750" spc="-5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spherical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surfaces</a:t>
            </a:r>
            <a:endParaRPr sz="1750">
              <a:latin typeface="Arial MT"/>
              <a:cs typeface="Arial MT"/>
            </a:endParaRPr>
          </a:p>
          <a:p>
            <a:pPr marL="12700" marR="246379">
              <a:lnSpc>
                <a:spcPts val="2000"/>
              </a:lnSpc>
              <a:spcBef>
                <a:spcPts val="950"/>
              </a:spcBef>
            </a:pPr>
            <a:r>
              <a:rPr dirty="0" sz="1750" spc="-10" b="1">
                <a:latin typeface="Arial"/>
                <a:cs typeface="Arial"/>
              </a:rPr>
              <a:t>Foundation:</a:t>
            </a:r>
            <a:r>
              <a:rPr dirty="0" sz="1750" spc="-50" b="1">
                <a:latin typeface="Arial"/>
                <a:cs typeface="Arial"/>
              </a:rPr>
              <a:t> </a:t>
            </a:r>
            <a:r>
              <a:rPr dirty="0" sz="1750" spc="-20">
                <a:latin typeface="Arial MT"/>
                <a:cs typeface="Arial MT"/>
              </a:rPr>
              <a:t>Great-</a:t>
            </a:r>
            <a:r>
              <a:rPr dirty="0" sz="1750">
                <a:latin typeface="Arial MT"/>
                <a:cs typeface="Arial MT"/>
              </a:rPr>
              <a:t>circle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distance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calculation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between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GPS</a:t>
            </a:r>
            <a:r>
              <a:rPr dirty="0" sz="1750" spc="-4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coordinates </a:t>
            </a:r>
            <a:r>
              <a:rPr dirty="0" sz="1750" spc="-10" b="1">
                <a:latin typeface="Arial"/>
                <a:cs typeface="Arial"/>
              </a:rPr>
              <a:t>Application:</a:t>
            </a:r>
            <a:r>
              <a:rPr dirty="0" sz="1750" spc="-65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Precise</a:t>
            </a:r>
            <a:r>
              <a:rPr dirty="0" sz="1750" spc="-5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pickup/drop</a:t>
            </a:r>
            <a:r>
              <a:rPr dirty="0" sz="1750" spc="-6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proximity</a:t>
            </a:r>
            <a:r>
              <a:rPr dirty="0" sz="1750" spc="-6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calculations</a:t>
            </a:r>
            <a:r>
              <a:rPr dirty="0" sz="1750" spc="-6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in</a:t>
            </a:r>
            <a:r>
              <a:rPr dirty="0" sz="1750" spc="-6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RouteShare </a:t>
            </a:r>
            <a:r>
              <a:rPr dirty="0" sz="1750" b="1">
                <a:latin typeface="Arial"/>
                <a:cs typeface="Arial"/>
              </a:rPr>
              <a:t>Impact:</a:t>
            </a:r>
            <a:r>
              <a:rPr dirty="0" sz="1750" spc="-60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Accurate</a:t>
            </a:r>
            <a:r>
              <a:rPr dirty="0" sz="1750" spc="-5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confidence</a:t>
            </a:r>
            <a:r>
              <a:rPr dirty="0" sz="1750" spc="-5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scoring</a:t>
            </a:r>
            <a:r>
              <a:rPr dirty="0" sz="1750" spc="-5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based</a:t>
            </a:r>
            <a:r>
              <a:rPr dirty="0" sz="1750" spc="-5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on</a:t>
            </a:r>
            <a:r>
              <a:rPr dirty="0" sz="1750" spc="-5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real</a:t>
            </a:r>
            <a:r>
              <a:rPr dirty="0" sz="1750" spc="-5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distances</a:t>
            </a:r>
            <a:endParaRPr sz="1750">
              <a:latin typeface="Arial MT"/>
              <a:cs typeface="Arial MT"/>
            </a:endParaRPr>
          </a:p>
          <a:p>
            <a:pPr marL="12700" marR="5080" indent="-3810">
              <a:lnSpc>
                <a:spcPct val="137900"/>
              </a:lnSpc>
              <a:spcBef>
                <a:spcPts val="1270"/>
              </a:spcBef>
              <a:buSzPct val="94444"/>
              <a:buAutoNum type="arabicPeriod" startAt="2"/>
              <a:tabLst>
                <a:tab pos="202565" algn="l"/>
              </a:tabLst>
            </a:pPr>
            <a:r>
              <a:rPr dirty="0" sz="1800" spc="-20" b="1">
                <a:latin typeface="Arial"/>
                <a:cs typeface="Arial"/>
              </a:rPr>
              <a:t>	</a:t>
            </a:r>
            <a:r>
              <a:rPr dirty="0" sz="1800" spc="-20" b="1">
                <a:latin typeface="Arial"/>
                <a:cs typeface="Arial"/>
              </a:rPr>
              <a:t>Multi-</a:t>
            </a:r>
            <a:r>
              <a:rPr dirty="0" sz="1800" b="1">
                <a:latin typeface="Arial"/>
                <a:cs typeface="Arial"/>
              </a:rPr>
              <a:t>Criteria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Decision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Analysis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(MCDA)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(Keeney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&amp;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Raiffa,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1976) </a:t>
            </a:r>
            <a:r>
              <a:rPr dirty="0" sz="1800" b="1">
                <a:latin typeface="Arial"/>
                <a:cs typeface="Arial"/>
              </a:rPr>
              <a:t>Core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Contribution: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Systematic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approach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multi-</a:t>
            </a:r>
            <a:r>
              <a:rPr dirty="0" sz="1800">
                <a:latin typeface="Arial MT"/>
                <a:cs typeface="Arial MT"/>
              </a:rPr>
              <a:t>factor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decision</a:t>
            </a:r>
            <a:r>
              <a:rPr dirty="0" sz="1800" spc="-10">
                <a:latin typeface="Arial MT"/>
                <a:cs typeface="Arial MT"/>
              </a:rPr>
              <a:t> making </a:t>
            </a:r>
            <a:r>
              <a:rPr dirty="0" sz="1800" spc="-10" b="1">
                <a:latin typeface="Arial"/>
                <a:cs typeface="Arial"/>
              </a:rPr>
              <a:t>Foundation: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Weighted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scoring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complex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decision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scenarios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800" b="1">
                <a:latin typeface="Arial"/>
                <a:cs typeface="Arial"/>
              </a:rPr>
              <a:t>Application: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RouteShare's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5-</a:t>
            </a:r>
            <a:r>
              <a:rPr dirty="0" sz="1800">
                <a:latin typeface="Arial MT"/>
                <a:cs typeface="Arial MT"/>
              </a:rPr>
              <a:t>factor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confidence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scoring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algorithm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800" b="1">
                <a:latin typeface="Arial"/>
                <a:cs typeface="Arial"/>
              </a:rPr>
              <a:t>Impact: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Transparent,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explainable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ride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quality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assessments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8296" y="1285828"/>
            <a:ext cx="7545705" cy="378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75080" indent="-3810">
              <a:lnSpc>
                <a:spcPct val="129600"/>
              </a:lnSpc>
              <a:spcBef>
                <a:spcPts val="100"/>
              </a:spcBef>
              <a:buSzPct val="94444"/>
              <a:buAutoNum type="arabicPeriod" startAt="3"/>
              <a:tabLst>
                <a:tab pos="202565" algn="l"/>
              </a:tabLst>
            </a:pPr>
            <a:r>
              <a:rPr dirty="0" sz="1800" spc="-10" b="1">
                <a:latin typeface="Arial"/>
                <a:cs typeface="Arial"/>
              </a:rPr>
              <a:t>	</a:t>
            </a:r>
            <a:r>
              <a:rPr dirty="0" sz="1800" spc="-10" b="1">
                <a:latin typeface="Arial"/>
                <a:cs typeface="Arial"/>
              </a:rPr>
              <a:t>Traveling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Salesman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Problem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(TSP)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(Dantzig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et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al.,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1954) </a:t>
            </a:r>
            <a:r>
              <a:rPr dirty="0" sz="1800" b="1">
                <a:latin typeface="Arial"/>
                <a:cs typeface="Arial"/>
              </a:rPr>
              <a:t>Core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Contribution: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Optimization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routes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multiple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stops</a:t>
            </a:r>
            <a:endParaRPr sz="1800">
              <a:latin typeface="Arial MT"/>
              <a:cs typeface="Arial MT"/>
            </a:endParaRPr>
          </a:p>
          <a:p>
            <a:pPr marL="12700" marR="1604645">
              <a:lnSpc>
                <a:spcPct val="101899"/>
              </a:lnSpc>
              <a:spcBef>
                <a:spcPts val="900"/>
              </a:spcBef>
            </a:pPr>
            <a:r>
              <a:rPr dirty="0" sz="1800" spc="-10" b="1">
                <a:latin typeface="Arial"/>
                <a:cs typeface="Arial"/>
              </a:rPr>
              <a:t>Foundation: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Combinatorial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optimization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route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planning </a:t>
            </a:r>
            <a:r>
              <a:rPr dirty="0" sz="1800" b="1">
                <a:latin typeface="Arial"/>
                <a:cs typeface="Arial"/>
              </a:rPr>
              <a:t>Application: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RouteShare's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multi-</a:t>
            </a:r>
            <a:r>
              <a:rPr dirty="0" sz="1800">
                <a:latin typeface="Arial MT"/>
                <a:cs typeface="Arial MT"/>
              </a:rPr>
              <a:t>leg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journey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planning </a:t>
            </a:r>
            <a:r>
              <a:rPr dirty="0" sz="1800" b="1">
                <a:latin typeface="Arial"/>
                <a:cs typeface="Arial"/>
              </a:rPr>
              <a:t>Impact: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Optimal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connecting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ride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combinations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64"/>
              </a:spcBef>
            </a:pPr>
            <a:endParaRPr sz="1800">
              <a:latin typeface="Arial MT"/>
              <a:cs typeface="Arial MT"/>
            </a:endParaRPr>
          </a:p>
          <a:p>
            <a:pPr marL="202565" indent="-193675">
              <a:lnSpc>
                <a:spcPct val="100000"/>
              </a:lnSpc>
              <a:spcBef>
                <a:spcPts val="5"/>
              </a:spcBef>
              <a:buSzPct val="94444"/>
              <a:buAutoNum type="arabicPeriod" startAt="4"/>
              <a:tabLst>
                <a:tab pos="202565" algn="l"/>
              </a:tabLst>
            </a:pPr>
            <a:r>
              <a:rPr dirty="0" sz="1800" b="1">
                <a:latin typeface="Arial"/>
                <a:cs typeface="Arial"/>
              </a:rPr>
              <a:t>Dynamic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Programming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(Bellman,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1957)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 b="1">
                <a:latin typeface="Arial"/>
                <a:cs typeface="Arial"/>
              </a:rPr>
              <a:t>Core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Contribution: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Breaking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complex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problems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simpler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subproblems</a:t>
            </a:r>
            <a:endParaRPr sz="1800">
              <a:latin typeface="Arial MT"/>
              <a:cs typeface="Arial MT"/>
            </a:endParaRPr>
          </a:p>
          <a:p>
            <a:pPr marL="12700" marR="969644">
              <a:lnSpc>
                <a:spcPct val="101899"/>
              </a:lnSpc>
              <a:spcBef>
                <a:spcPts val="894"/>
              </a:spcBef>
            </a:pPr>
            <a:r>
              <a:rPr dirty="0" sz="1800" spc="-10" b="1">
                <a:latin typeface="Arial"/>
                <a:cs typeface="Arial"/>
              </a:rPr>
              <a:t>Foundation: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Optimal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substructure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overlapping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subproblems </a:t>
            </a:r>
            <a:r>
              <a:rPr dirty="0" sz="1800" b="1">
                <a:latin typeface="Arial"/>
                <a:cs typeface="Arial"/>
              </a:rPr>
              <a:t>Application: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RouteShare's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multi-</a:t>
            </a:r>
            <a:r>
              <a:rPr dirty="0" sz="1800">
                <a:latin typeface="Arial MT"/>
                <a:cs typeface="Arial MT"/>
              </a:rPr>
              <a:t>leg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confidence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calculation </a:t>
            </a:r>
            <a:r>
              <a:rPr dirty="0" sz="1800" b="1">
                <a:latin typeface="Arial"/>
                <a:cs typeface="Arial"/>
              </a:rPr>
              <a:t>Impact: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Efficient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computation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complex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journey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options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2550" rIns="0" bIns="0" rtlCol="0" vert="horz">
            <a:spAutoFit/>
          </a:bodyPr>
          <a:lstStyle/>
          <a:p>
            <a:pPr marL="29279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DESIGN</a:t>
            </a:r>
            <a:r>
              <a:rPr dirty="0" spc="-170"/>
              <a:t> </a:t>
            </a:r>
            <a:r>
              <a:rPr dirty="0" spc="-25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26724" y="1428052"/>
            <a:ext cx="1104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Flowchart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660291" y="1428052"/>
            <a:ext cx="1321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ER</a:t>
            </a: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811" y="2100261"/>
            <a:ext cx="4092576" cy="41004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6000" y="2064524"/>
            <a:ext cx="4226299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6725" y="851790"/>
            <a:ext cx="20339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 Case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Diagram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9149" y="1458374"/>
            <a:ext cx="6151900" cy="4962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735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185"/>
              <a:t> </a:t>
            </a:r>
            <a:r>
              <a:rPr dirty="0" spc="-10"/>
              <a:t>METHADOLOGY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7531" y="1444287"/>
            <a:ext cx="9197975" cy="3836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>
              <a:lnSpc>
                <a:spcPts val="2320"/>
              </a:lnSpc>
              <a:spcBef>
                <a:spcPts val="100"/>
              </a:spcBef>
            </a:pPr>
            <a:r>
              <a:rPr dirty="0" u="sng" sz="20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Technical</a:t>
            </a:r>
            <a:r>
              <a:rPr dirty="0" u="sng" sz="2000" spc="-9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Architecture</a:t>
            </a:r>
            <a:endParaRPr sz="2000">
              <a:latin typeface="Arial"/>
              <a:cs typeface="Arial"/>
            </a:endParaRPr>
          </a:p>
          <a:p>
            <a:pPr marL="469265">
              <a:lnSpc>
                <a:spcPts val="1600"/>
              </a:lnSpc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User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Service(Auth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+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Profiles)</a:t>
            </a:r>
            <a:endParaRPr sz="1400">
              <a:latin typeface="Arial MT"/>
              <a:cs typeface="Arial MT"/>
            </a:endParaRPr>
          </a:p>
          <a:p>
            <a:pPr marL="469265">
              <a:lnSpc>
                <a:spcPct val="100000"/>
              </a:lnSpc>
              <a:spcBef>
                <a:spcPts val="615"/>
              </a:spcBef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Ride</a:t>
            </a:r>
            <a:r>
              <a:rPr dirty="0" sz="14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Service(Ride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Management)</a:t>
            </a:r>
            <a:endParaRPr sz="1400">
              <a:latin typeface="Arial MT"/>
              <a:cs typeface="Arial MT"/>
            </a:endParaRPr>
          </a:p>
          <a:p>
            <a:pPr marL="469265" marR="4577080">
              <a:lnSpc>
                <a:spcPct val="136600"/>
              </a:lnSpc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AI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Service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(Confidence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Scoring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+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NLP</a:t>
            </a:r>
            <a:r>
              <a:rPr dirty="0" sz="1400" spc="-3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Explanations)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Payment</a:t>
            </a:r>
            <a:r>
              <a:rPr dirty="0" sz="1400" spc="-4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Service(Stripe)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sng" sz="130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PrimaryModel:</a:t>
            </a:r>
            <a:r>
              <a:rPr dirty="0" u="sng" sz="1300" spc="-6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30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"Hugging</a:t>
            </a:r>
            <a:r>
              <a:rPr dirty="0" u="sng" sz="1300" spc="-55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30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Face</a:t>
            </a:r>
            <a:r>
              <a:rPr dirty="0" u="sng" sz="1300" spc="-55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30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Mistral</a:t>
            </a:r>
            <a:r>
              <a:rPr dirty="0" u="sng" sz="1300" spc="-6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300" spc="-1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8x7B"</a:t>
            </a:r>
            <a:endParaRPr sz="1300">
              <a:latin typeface="Arial"/>
              <a:cs typeface="Arial"/>
            </a:endParaRPr>
          </a:p>
          <a:p>
            <a:pPr marL="177165" marR="5080" indent="-165100">
              <a:lnSpc>
                <a:spcPct val="136600"/>
              </a:lnSpc>
              <a:spcBef>
                <a:spcPts val="1165"/>
              </a:spcBef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system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uses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large</a:t>
            </a:r>
            <a:r>
              <a:rPr dirty="0" sz="1400" spc="-8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AI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language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model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from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Hugging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Face.It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supports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powerful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reasoning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natural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language processing.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u="sng" sz="130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CustomAI:</a:t>
            </a:r>
            <a:r>
              <a:rPr dirty="0" u="sng" sz="1300" spc="-55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30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"Custom</a:t>
            </a:r>
            <a:r>
              <a:rPr dirty="0" u="sng" sz="1300" spc="-45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30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heuristic</a:t>
            </a:r>
            <a:r>
              <a:rPr dirty="0" u="sng" sz="1300" spc="-5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300" spc="-10" b="1">
                <a:solidFill>
                  <a:srgbClr val="111111"/>
                </a:solidFill>
                <a:uFill>
                  <a:solidFill>
                    <a:srgbClr val="111111"/>
                  </a:solidFill>
                </a:uFill>
                <a:latin typeface="Arial"/>
                <a:cs typeface="Arial"/>
              </a:rPr>
              <a:t>algorithms"</a:t>
            </a:r>
            <a:endParaRPr sz="1300">
              <a:latin typeface="Arial"/>
              <a:cs typeface="Arial"/>
            </a:endParaRPr>
          </a:p>
          <a:p>
            <a:pPr marL="12700" marR="2383790">
              <a:lnSpc>
                <a:spcPts val="2340"/>
              </a:lnSpc>
              <a:spcBef>
                <a:spcPts val="15"/>
              </a:spcBef>
            </a:pP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Aside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from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the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Mistral model,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We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have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custom-developed</a:t>
            </a:r>
            <a:r>
              <a:rPr dirty="0" sz="1400" spc="-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AI</a:t>
            </a:r>
            <a:r>
              <a:rPr dirty="0" sz="1400" spc="-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111111"/>
                </a:solidFill>
                <a:latin typeface="Arial"/>
                <a:cs typeface="Arial"/>
              </a:rPr>
              <a:t>logic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ride</a:t>
            </a:r>
            <a:r>
              <a:rPr dirty="0" sz="1400" spc="-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matching.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Used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for:Confidence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Scoring,Multi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Leg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Planning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&amp;</a:t>
            </a:r>
            <a:r>
              <a:rPr dirty="0" sz="14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111111"/>
                </a:solidFill>
                <a:latin typeface="Arial MT"/>
                <a:cs typeface="Arial MT"/>
              </a:rPr>
              <a:t>Dynamic</a:t>
            </a:r>
            <a:r>
              <a:rPr dirty="0" sz="14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111111"/>
                </a:solidFill>
                <a:latin typeface="Arial MT"/>
                <a:cs typeface="Arial MT"/>
              </a:rPr>
              <a:t>Pricing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466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uFill>
                  <a:solidFill>
                    <a:srgbClr val="000000"/>
                  </a:solidFill>
                </a:uFill>
              </a:rPr>
              <a:t>Hardware</a:t>
            </a:r>
            <a:r>
              <a:rPr dirty="0" u="sng" sz="1800" spc="-3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</a:rPr>
              <a:t>and</a:t>
            </a:r>
            <a:r>
              <a:rPr dirty="0" u="sng" sz="1800" spc="-3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</a:rPr>
              <a:t>Software</a:t>
            </a:r>
            <a:r>
              <a:rPr dirty="0" u="sng" sz="1800" spc="-35"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1800" spc="-10">
                <a:uFill>
                  <a:solidFill>
                    <a:srgbClr val="000000"/>
                  </a:solidFill>
                </a:uFill>
              </a:rPr>
              <a:t>Requirements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790346" y="1302339"/>
            <a:ext cx="5490210" cy="3886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marR="1822450" indent="-228600">
              <a:lnSpc>
                <a:spcPct val="133300"/>
              </a:lnSpc>
              <a:spcBef>
                <a:spcPts val="95"/>
              </a:spcBef>
            </a:pPr>
            <a:r>
              <a:rPr dirty="0" sz="1750" b="1">
                <a:latin typeface="Arial"/>
                <a:cs typeface="Arial"/>
              </a:rPr>
              <a:t>Minimum</a:t>
            </a:r>
            <a:r>
              <a:rPr dirty="0" sz="1750" spc="55" b="1">
                <a:latin typeface="Arial"/>
                <a:cs typeface="Arial"/>
              </a:rPr>
              <a:t> </a:t>
            </a:r>
            <a:r>
              <a:rPr dirty="0" sz="1750" b="1">
                <a:latin typeface="Arial"/>
                <a:cs typeface="Arial"/>
              </a:rPr>
              <a:t>Hardware</a:t>
            </a:r>
            <a:r>
              <a:rPr dirty="0" sz="1750" spc="60" b="1">
                <a:latin typeface="Arial"/>
                <a:cs typeface="Arial"/>
              </a:rPr>
              <a:t> </a:t>
            </a:r>
            <a:r>
              <a:rPr dirty="0" sz="1750" spc="-10" b="1">
                <a:latin typeface="Arial"/>
                <a:cs typeface="Arial"/>
              </a:rPr>
              <a:t>Requirements </a:t>
            </a:r>
            <a:r>
              <a:rPr dirty="0" sz="1750" b="1">
                <a:latin typeface="Arial"/>
                <a:cs typeface="Arial"/>
              </a:rPr>
              <a:t>CPU:</a:t>
            </a:r>
            <a:r>
              <a:rPr dirty="0" sz="1750" spc="25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4</a:t>
            </a:r>
            <a:r>
              <a:rPr dirty="0" sz="1750" spc="25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cores</a:t>
            </a:r>
            <a:endParaRPr sz="175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latin typeface="Arial"/>
                <a:cs typeface="Arial"/>
              </a:rPr>
              <a:t>RAM:</a:t>
            </a:r>
            <a:r>
              <a:rPr dirty="0" sz="1750" spc="35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8GB</a:t>
            </a:r>
            <a:r>
              <a:rPr dirty="0" sz="1750" spc="3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(16GB</a:t>
            </a:r>
            <a:r>
              <a:rPr dirty="0" sz="1750" spc="4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recommended)</a:t>
            </a:r>
            <a:endParaRPr sz="175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latin typeface="Arial"/>
                <a:cs typeface="Arial"/>
              </a:rPr>
              <a:t>Storage:</a:t>
            </a:r>
            <a:r>
              <a:rPr dirty="0" sz="1750" spc="40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20GB</a:t>
            </a:r>
            <a:r>
              <a:rPr dirty="0" sz="1750" spc="4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free</a:t>
            </a:r>
            <a:r>
              <a:rPr dirty="0" sz="1750" spc="45">
                <a:latin typeface="Arial MT"/>
                <a:cs typeface="Arial MT"/>
              </a:rPr>
              <a:t> </a:t>
            </a:r>
            <a:r>
              <a:rPr dirty="0" sz="1750" spc="-20">
                <a:latin typeface="Arial MT"/>
                <a:cs typeface="Arial MT"/>
              </a:rPr>
              <a:t>space</a:t>
            </a:r>
            <a:endParaRPr sz="175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latin typeface="Arial"/>
                <a:cs typeface="Arial"/>
              </a:rPr>
              <a:t>OS:</a:t>
            </a:r>
            <a:r>
              <a:rPr dirty="0" sz="1750" spc="30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Windows</a:t>
            </a:r>
            <a:r>
              <a:rPr dirty="0" sz="1750" spc="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10/11,</a:t>
            </a:r>
            <a:r>
              <a:rPr dirty="0" sz="1750" spc="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macOS</a:t>
            </a:r>
            <a:r>
              <a:rPr dirty="0" sz="1750" spc="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10.15+,</a:t>
            </a:r>
            <a:r>
              <a:rPr dirty="0" sz="1750" spc="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Ubuntu</a:t>
            </a:r>
            <a:r>
              <a:rPr dirty="0" sz="1750" spc="3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18.04+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1750">
              <a:latin typeface="Arial MT"/>
              <a:cs typeface="Arial MT"/>
            </a:endParaRPr>
          </a:p>
          <a:p>
            <a:pPr marL="240665" marR="2950210" indent="-228600">
              <a:lnSpc>
                <a:spcPct val="133300"/>
              </a:lnSpc>
            </a:pPr>
            <a:r>
              <a:rPr dirty="0" sz="1750" b="1">
                <a:latin typeface="Arial"/>
                <a:cs typeface="Arial"/>
              </a:rPr>
              <a:t>Software</a:t>
            </a:r>
            <a:r>
              <a:rPr dirty="0" sz="1750" spc="75" b="1">
                <a:latin typeface="Arial"/>
                <a:cs typeface="Arial"/>
              </a:rPr>
              <a:t> </a:t>
            </a:r>
            <a:r>
              <a:rPr dirty="0" sz="1750" spc="-10" b="1">
                <a:latin typeface="Arial"/>
                <a:cs typeface="Arial"/>
              </a:rPr>
              <a:t>Requirements </a:t>
            </a:r>
            <a:r>
              <a:rPr dirty="0" sz="1750" b="1">
                <a:latin typeface="Arial"/>
                <a:cs typeface="Arial"/>
              </a:rPr>
              <a:t>Node.js:</a:t>
            </a:r>
            <a:r>
              <a:rPr dirty="0" sz="1750" spc="50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18.0+</a:t>
            </a:r>
            <a:r>
              <a:rPr dirty="0" sz="1750" spc="60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LTS</a:t>
            </a:r>
            <a:endParaRPr sz="175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latin typeface="Arial"/>
                <a:cs typeface="Arial"/>
              </a:rPr>
              <a:t>npm/yarn:</a:t>
            </a:r>
            <a:r>
              <a:rPr dirty="0" sz="1750" spc="55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Package</a:t>
            </a:r>
            <a:r>
              <a:rPr dirty="0" sz="1750" spc="5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manager</a:t>
            </a:r>
            <a:endParaRPr sz="175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latin typeface="Arial"/>
                <a:cs typeface="Arial"/>
              </a:rPr>
              <a:t>Git:</a:t>
            </a:r>
            <a:r>
              <a:rPr dirty="0" sz="1750" spc="-20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Version</a:t>
            </a:r>
            <a:r>
              <a:rPr dirty="0" sz="1750" spc="-1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control</a:t>
            </a:r>
            <a:endParaRPr sz="175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latin typeface="Arial"/>
                <a:cs typeface="Arial"/>
              </a:rPr>
              <a:t>VS</a:t>
            </a:r>
            <a:r>
              <a:rPr dirty="0" sz="1750" spc="50" b="1">
                <a:latin typeface="Arial"/>
                <a:cs typeface="Arial"/>
              </a:rPr>
              <a:t> </a:t>
            </a:r>
            <a:r>
              <a:rPr dirty="0" sz="1750" b="1">
                <a:latin typeface="Arial"/>
                <a:cs typeface="Arial"/>
              </a:rPr>
              <a:t>Code:</a:t>
            </a:r>
            <a:r>
              <a:rPr dirty="0" sz="1750" spc="50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Recommended</a:t>
            </a:r>
            <a:r>
              <a:rPr dirty="0" sz="1750" spc="50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IDE</a:t>
            </a:r>
            <a:endParaRPr sz="1750">
              <a:latin typeface="Arial MT"/>
              <a:cs typeface="Arial MT"/>
            </a:endParaRPr>
          </a:p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dirty="0" sz="1750" b="1">
                <a:latin typeface="Arial"/>
                <a:cs typeface="Arial"/>
              </a:rPr>
              <a:t>MongoDB:</a:t>
            </a:r>
            <a:r>
              <a:rPr dirty="0" sz="1750" spc="30" b="1">
                <a:latin typeface="Arial"/>
                <a:cs typeface="Arial"/>
              </a:rPr>
              <a:t> </a:t>
            </a:r>
            <a:r>
              <a:rPr dirty="0" sz="1750">
                <a:latin typeface="Arial MT"/>
                <a:cs typeface="Arial MT"/>
              </a:rPr>
              <a:t>6.0+</a:t>
            </a:r>
            <a:r>
              <a:rPr dirty="0" sz="1750" spc="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(local</a:t>
            </a:r>
            <a:r>
              <a:rPr dirty="0" sz="1750" spc="35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or</a:t>
            </a:r>
            <a:r>
              <a:rPr dirty="0" sz="1750" spc="-7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Atlas)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0" rIns="0" bIns="0" rtlCol="0" vert="horz">
            <a:spAutoFit/>
          </a:bodyPr>
          <a:lstStyle/>
          <a:p>
            <a:pPr marL="10414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  <a:r>
              <a:rPr dirty="0" spc="-195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FUTURE</a:t>
            </a:r>
            <a:r>
              <a:rPr dirty="0" spc="-85"/>
              <a:t> </a:t>
            </a:r>
            <a:r>
              <a:rPr dirty="0" spc="-20"/>
              <a:t>WORK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12424" y="1312592"/>
            <a:ext cx="9344660" cy="3187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500"/>
              </a:lnSpc>
              <a:spcBef>
                <a:spcPts val="100"/>
              </a:spcBef>
            </a:pPr>
            <a:r>
              <a:rPr dirty="0" sz="1650">
                <a:latin typeface="Arial MT"/>
                <a:cs typeface="Arial MT"/>
              </a:rPr>
              <a:t>RouteShare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showcases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how</a:t>
            </a:r>
            <a:r>
              <a:rPr dirty="0" sz="1650" spc="-10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AI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can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improve</a:t>
            </a:r>
            <a:r>
              <a:rPr dirty="0" sz="1650" spc="-10">
                <a:latin typeface="Arial MT"/>
                <a:cs typeface="Arial MT"/>
              </a:rPr>
              <a:t> ride-</a:t>
            </a:r>
            <a:r>
              <a:rPr dirty="0" sz="1650">
                <a:latin typeface="Arial MT"/>
                <a:cs typeface="Arial MT"/>
              </a:rPr>
              <a:t>sharing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through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smart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route</a:t>
            </a:r>
            <a:r>
              <a:rPr dirty="0" sz="1650" spc="-10">
                <a:latin typeface="Arial MT"/>
                <a:cs typeface="Arial MT"/>
              </a:rPr>
              <a:t> optimization, </a:t>
            </a:r>
            <a:r>
              <a:rPr dirty="0" sz="1650">
                <a:latin typeface="Arial MT"/>
                <a:cs typeface="Arial MT"/>
              </a:rPr>
              <a:t>transparent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matching,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10">
                <a:latin typeface="Arial MT"/>
                <a:cs typeface="Arial MT"/>
              </a:rPr>
              <a:t> real-</a:t>
            </a:r>
            <a:r>
              <a:rPr dirty="0" sz="1650">
                <a:latin typeface="Arial MT"/>
                <a:cs typeface="Arial MT"/>
              </a:rPr>
              <a:t>time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decisions.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It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scalable,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user-friendly,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contributes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25">
                <a:latin typeface="Arial MT"/>
                <a:cs typeface="Arial MT"/>
              </a:rPr>
              <a:t>to </a:t>
            </a:r>
            <a:r>
              <a:rPr dirty="0" sz="1650">
                <a:latin typeface="Arial MT"/>
                <a:cs typeface="Arial MT"/>
              </a:rPr>
              <a:t>sustainable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efficient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urban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transportation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while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laying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foundation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for</a:t>
            </a:r>
            <a:r>
              <a:rPr dirty="0" sz="1650" spc="-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future</a:t>
            </a:r>
            <a:r>
              <a:rPr dirty="0" sz="1650" spc="-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intelligent</a:t>
            </a:r>
            <a:r>
              <a:rPr dirty="0" sz="1650" spc="-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mobility solutions.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650">
              <a:latin typeface="Arial MT"/>
              <a:cs typeface="Arial MT"/>
            </a:endParaRPr>
          </a:p>
          <a:p>
            <a:pPr marL="127000">
              <a:lnSpc>
                <a:spcPct val="100000"/>
              </a:lnSpc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Future</a:t>
            </a:r>
            <a:r>
              <a:rPr dirty="0" u="sng" sz="1800" spc="-5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Work</a:t>
            </a:r>
            <a:endParaRPr sz="1800">
              <a:latin typeface="Arial"/>
              <a:cs typeface="Arial"/>
            </a:endParaRPr>
          </a:p>
          <a:p>
            <a:pPr marL="132715" indent="-120014">
              <a:lnSpc>
                <a:spcPct val="100000"/>
              </a:lnSpc>
              <a:spcBef>
                <a:spcPts val="475"/>
              </a:spcBef>
              <a:buFont typeface="Times New Roman"/>
              <a:buChar char="•"/>
              <a:tabLst>
                <a:tab pos="132715" algn="l"/>
              </a:tabLst>
            </a:pPr>
            <a:r>
              <a:rPr dirty="0" sz="1800">
                <a:latin typeface="Arial MT"/>
                <a:cs typeface="Arial MT"/>
              </a:rPr>
              <a:t>Personalization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Behavior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Insights</a:t>
            </a:r>
            <a:endParaRPr sz="1800">
              <a:latin typeface="Arial MT"/>
              <a:cs typeface="Arial MT"/>
            </a:endParaRPr>
          </a:p>
          <a:p>
            <a:pPr marL="132715" indent="-120014">
              <a:lnSpc>
                <a:spcPct val="100000"/>
              </a:lnSpc>
              <a:spcBef>
                <a:spcPts val="1140"/>
              </a:spcBef>
              <a:buFont typeface="Times New Roman"/>
              <a:buChar char="•"/>
              <a:tabLst>
                <a:tab pos="132715" algn="l"/>
              </a:tabLst>
            </a:pPr>
            <a:r>
              <a:rPr dirty="0" sz="1800">
                <a:latin typeface="Arial MT"/>
                <a:cs typeface="Arial MT"/>
              </a:rPr>
              <a:t>Blockchain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&amp;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Web3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Integration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6921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SCREENSHOTS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9507" y="3586100"/>
            <a:ext cx="3801717" cy="258432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3133" y="1139460"/>
            <a:ext cx="3654466" cy="22564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5479" y="3399783"/>
            <a:ext cx="1725917" cy="2769248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2919886" y="3470158"/>
            <a:ext cx="3191510" cy="2609850"/>
            <a:chOff x="2919886" y="3470158"/>
            <a:chExt cx="3191510" cy="2609850"/>
          </a:xfrm>
        </p:grpSpPr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2586" y="3482858"/>
              <a:ext cx="3165732" cy="258432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932586" y="3482858"/>
              <a:ext cx="3166110" cy="2584450"/>
            </a:xfrm>
            <a:custGeom>
              <a:avLst/>
              <a:gdLst/>
              <a:ahLst/>
              <a:cxnLst/>
              <a:rect l="l" t="t" r="r" b="b"/>
              <a:pathLst>
                <a:path w="3166110" h="2584450">
                  <a:moveTo>
                    <a:pt x="0" y="0"/>
                  </a:moveTo>
                  <a:lnTo>
                    <a:pt x="3165732" y="0"/>
                  </a:lnTo>
                  <a:lnTo>
                    <a:pt x="3165732" y="2584328"/>
                  </a:lnTo>
                  <a:lnTo>
                    <a:pt x="0" y="258432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630351" y="1193110"/>
            <a:ext cx="5119370" cy="1929764"/>
            <a:chOff x="630351" y="1193110"/>
            <a:chExt cx="5119370" cy="1929764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351" y="1193110"/>
              <a:ext cx="3316683" cy="192938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8513" y="1196291"/>
              <a:ext cx="1151015" cy="175632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7209" y="2078744"/>
              <a:ext cx="631131" cy="19812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995309" y="2157804"/>
              <a:ext cx="445770" cy="0"/>
            </a:xfrm>
            <a:custGeom>
              <a:avLst/>
              <a:gdLst/>
              <a:ahLst/>
              <a:cxnLst/>
              <a:rect l="l" t="t" r="r" b="b"/>
              <a:pathLst>
                <a:path w="445770" h="0">
                  <a:moveTo>
                    <a:pt x="0" y="0"/>
                  </a:moveTo>
                  <a:lnTo>
                    <a:pt x="433011" y="0"/>
                  </a:lnTo>
                  <a:lnTo>
                    <a:pt x="445711" y="0"/>
                  </a:lnTo>
                </a:path>
              </a:pathLst>
            </a:custGeom>
            <a:ln w="254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428321" y="2096844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0" y="0"/>
                  </a:moveTo>
                  <a:lnTo>
                    <a:pt x="0" y="121919"/>
                  </a:lnTo>
                  <a:lnTo>
                    <a:pt x="121920" y="60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57208" y="2290215"/>
              <a:ext cx="558296" cy="19812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104528" y="2369275"/>
              <a:ext cx="373380" cy="0"/>
            </a:xfrm>
            <a:custGeom>
              <a:avLst/>
              <a:gdLst/>
              <a:ahLst/>
              <a:cxnLst/>
              <a:rect l="l" t="t" r="r" b="b"/>
              <a:pathLst>
                <a:path w="373379" h="0">
                  <a:moveTo>
                    <a:pt x="372876" y="0"/>
                  </a:moveTo>
                  <a:lnTo>
                    <a:pt x="12699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995309" y="2308315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19">
                  <a:moveTo>
                    <a:pt x="121920" y="0"/>
                  </a:moveTo>
                  <a:lnTo>
                    <a:pt x="0" y="60960"/>
                  </a:lnTo>
                  <a:lnTo>
                    <a:pt x="121920" y="121920"/>
                  </a:lnTo>
                  <a:lnTo>
                    <a:pt x="121920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1950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612140" indent="245745">
              <a:lnSpc>
                <a:spcPct val="142900"/>
              </a:lnSpc>
              <a:spcBef>
                <a:spcPts val="100"/>
              </a:spcBef>
              <a:buSzPct val="97142"/>
              <a:buAutoNum type="arabicPeriod"/>
              <a:tabLst>
                <a:tab pos="258445" algn="l"/>
              </a:tabLst>
            </a:pPr>
            <a:r>
              <a:rPr dirty="0"/>
              <a:t>Chen,</a:t>
            </a:r>
            <a:r>
              <a:rPr dirty="0" spc="-75"/>
              <a:t> </a:t>
            </a:r>
            <a:r>
              <a:rPr dirty="0" spc="-70"/>
              <a:t>Y.,</a:t>
            </a:r>
            <a:r>
              <a:rPr dirty="0" spc="-30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/>
              <a:t>Li,</a:t>
            </a:r>
            <a:r>
              <a:rPr dirty="0" spc="-30"/>
              <a:t> </a:t>
            </a:r>
            <a:r>
              <a:rPr dirty="0"/>
              <a:t>Z.</a:t>
            </a:r>
            <a:r>
              <a:rPr dirty="0" spc="-25"/>
              <a:t> </a:t>
            </a:r>
            <a:r>
              <a:rPr dirty="0"/>
              <a:t>(2023).</a:t>
            </a:r>
            <a:r>
              <a:rPr dirty="0" spc="-30"/>
              <a:t> </a:t>
            </a:r>
            <a:r>
              <a:rPr dirty="0"/>
              <a:t>"Artificial</a:t>
            </a:r>
            <a:r>
              <a:rPr dirty="0" spc="-30"/>
              <a:t> </a:t>
            </a:r>
            <a:r>
              <a:rPr dirty="0"/>
              <a:t>Intelligence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 spc="-20"/>
              <a:t>Transportation:</a:t>
            </a:r>
            <a:r>
              <a:rPr dirty="0" spc="-100"/>
              <a:t> </a:t>
            </a:r>
            <a:r>
              <a:rPr dirty="0"/>
              <a:t>A</a:t>
            </a:r>
            <a:r>
              <a:rPr dirty="0" spc="-120"/>
              <a:t> </a:t>
            </a:r>
            <a:r>
              <a:rPr dirty="0" spc="-10"/>
              <a:t>Comprehensive Review."</a:t>
            </a:r>
            <a:r>
              <a:rPr dirty="0" spc="-65"/>
              <a:t> </a:t>
            </a:r>
            <a:r>
              <a:rPr dirty="0" i="1">
                <a:latin typeface="Arial"/>
                <a:cs typeface="Arial"/>
              </a:rPr>
              <a:t>*Journal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of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Intelligent</a:t>
            </a:r>
            <a:r>
              <a:rPr dirty="0" spc="-9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Transportation</a:t>
            </a:r>
            <a:r>
              <a:rPr dirty="0" spc="-6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Systems*</a:t>
            </a:r>
            <a:r>
              <a:rPr dirty="0"/>
              <a:t>,</a:t>
            </a:r>
            <a:r>
              <a:rPr dirty="0" spc="-65"/>
              <a:t> </a:t>
            </a:r>
            <a:r>
              <a:rPr dirty="0"/>
              <a:t>27(3),</a:t>
            </a:r>
            <a:r>
              <a:rPr dirty="0" spc="-65"/>
              <a:t> </a:t>
            </a:r>
            <a:r>
              <a:rPr dirty="0" spc="-20"/>
              <a:t>245-267.</a:t>
            </a:r>
          </a:p>
          <a:p>
            <a:pPr marL="12700" marR="404495" indent="245745">
              <a:lnSpc>
                <a:spcPct val="142900"/>
              </a:lnSpc>
              <a:buSzPct val="97142"/>
              <a:buAutoNum type="arabicPeriod"/>
              <a:tabLst>
                <a:tab pos="258445" algn="l"/>
              </a:tabLst>
            </a:pPr>
            <a:r>
              <a:rPr dirty="0"/>
              <a:t>Johnson,</a:t>
            </a:r>
            <a:r>
              <a:rPr dirty="0" spc="-50"/>
              <a:t> </a:t>
            </a:r>
            <a:r>
              <a:rPr dirty="0"/>
              <a:t>M.</a:t>
            </a:r>
            <a:r>
              <a:rPr dirty="0" spc="-45"/>
              <a:t> </a:t>
            </a:r>
            <a:r>
              <a:rPr dirty="0"/>
              <a:t>K.,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/>
              <a:t>Williams,</a:t>
            </a:r>
            <a:r>
              <a:rPr dirty="0" spc="-50"/>
              <a:t> </a:t>
            </a:r>
            <a:r>
              <a:rPr dirty="0"/>
              <a:t>R.</a:t>
            </a:r>
            <a:r>
              <a:rPr dirty="0" spc="-45"/>
              <a:t> </a:t>
            </a:r>
            <a:r>
              <a:rPr dirty="0"/>
              <a:t>(2023).</a:t>
            </a:r>
            <a:r>
              <a:rPr dirty="0" spc="-50"/>
              <a:t> </a:t>
            </a:r>
            <a:r>
              <a:rPr dirty="0" spc="-10"/>
              <a:t>"Real-Time</a:t>
            </a:r>
            <a:r>
              <a:rPr dirty="0" spc="-70"/>
              <a:t> </a:t>
            </a:r>
            <a:r>
              <a:rPr dirty="0" spc="-10"/>
              <a:t>Tracking</a:t>
            </a:r>
            <a:r>
              <a:rPr dirty="0" spc="-50"/>
              <a:t> </a:t>
            </a:r>
            <a:r>
              <a:rPr dirty="0"/>
              <a:t>Systems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50"/>
              <a:t> </a:t>
            </a:r>
            <a:r>
              <a:rPr dirty="0" spc="-10"/>
              <a:t>Ride-Sharing </a:t>
            </a:r>
            <a:r>
              <a:rPr dirty="0"/>
              <a:t>Applications."</a:t>
            </a:r>
            <a:r>
              <a:rPr dirty="0" spc="-70"/>
              <a:t> </a:t>
            </a:r>
            <a:r>
              <a:rPr dirty="0" i="1">
                <a:latin typeface="Arial"/>
                <a:cs typeface="Arial"/>
              </a:rPr>
              <a:t>*IEEE</a:t>
            </a:r>
            <a:r>
              <a:rPr dirty="0" spc="-9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Transactions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on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Intelligent</a:t>
            </a:r>
            <a:r>
              <a:rPr dirty="0" spc="-9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Transportation</a:t>
            </a:r>
            <a:r>
              <a:rPr dirty="0" spc="-6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Systems*</a:t>
            </a:r>
            <a:r>
              <a:rPr dirty="0"/>
              <a:t>,</a:t>
            </a:r>
            <a:r>
              <a:rPr dirty="0" spc="-70"/>
              <a:t> </a:t>
            </a:r>
            <a:r>
              <a:rPr dirty="0" spc="-10"/>
              <a:t>24(8),</a:t>
            </a: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pc="-10"/>
              <a:t>7890-7905.</a:t>
            </a:r>
          </a:p>
          <a:p>
            <a:pPr marL="12700" marR="5080" indent="-9525">
              <a:lnSpc>
                <a:spcPct val="142900"/>
              </a:lnSpc>
              <a:buSzPct val="97142"/>
              <a:buAutoNum type="arabicPeriod" startAt="3"/>
              <a:tabLst>
                <a:tab pos="196850" algn="l"/>
              </a:tabLst>
            </a:pPr>
            <a:r>
              <a:rPr dirty="0"/>
              <a:t>	</a:t>
            </a:r>
            <a:r>
              <a:rPr dirty="0"/>
              <a:t>Uber</a:t>
            </a:r>
            <a:r>
              <a:rPr dirty="0" spc="-85"/>
              <a:t> </a:t>
            </a:r>
            <a:r>
              <a:rPr dirty="0" spc="-20"/>
              <a:t>Technologies,</a:t>
            </a:r>
            <a:r>
              <a:rPr dirty="0" spc="-50"/>
              <a:t> </a:t>
            </a:r>
            <a:r>
              <a:rPr dirty="0"/>
              <a:t>Inc.</a:t>
            </a:r>
            <a:r>
              <a:rPr dirty="0" spc="-55"/>
              <a:t> </a:t>
            </a:r>
            <a:r>
              <a:rPr dirty="0"/>
              <a:t>(2022).</a:t>
            </a:r>
            <a:r>
              <a:rPr dirty="0" spc="-55"/>
              <a:t> </a:t>
            </a:r>
            <a:r>
              <a:rPr dirty="0"/>
              <a:t>"Method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System</a:t>
            </a:r>
            <a:r>
              <a:rPr dirty="0" spc="-55"/>
              <a:t> </a:t>
            </a:r>
            <a:r>
              <a:rPr dirty="0"/>
              <a:t>for</a:t>
            </a:r>
            <a:r>
              <a:rPr dirty="0" spc="-55"/>
              <a:t> </a:t>
            </a:r>
            <a:r>
              <a:rPr dirty="0"/>
              <a:t>Dynamic</a:t>
            </a:r>
            <a:r>
              <a:rPr dirty="0" spc="-50"/>
              <a:t> </a:t>
            </a:r>
            <a:r>
              <a:rPr dirty="0"/>
              <a:t>Pricing</a:t>
            </a:r>
            <a:r>
              <a:rPr dirty="0" spc="-55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 spc="-10"/>
              <a:t>Ride-Sharing </a:t>
            </a:r>
            <a:r>
              <a:rPr dirty="0"/>
              <a:t>Services."</a:t>
            </a:r>
            <a:r>
              <a:rPr dirty="0" spc="-75"/>
              <a:t> </a:t>
            </a:r>
            <a:r>
              <a:rPr dirty="0"/>
              <a:t>U.S.</a:t>
            </a:r>
            <a:r>
              <a:rPr dirty="0" spc="-75"/>
              <a:t> </a:t>
            </a:r>
            <a:r>
              <a:rPr dirty="0"/>
              <a:t>Patent</a:t>
            </a:r>
            <a:r>
              <a:rPr dirty="0" spc="-70"/>
              <a:t> </a:t>
            </a:r>
            <a:r>
              <a:rPr dirty="0" spc="-10"/>
              <a:t>11,345,678.</a:t>
            </a:r>
          </a:p>
          <a:p>
            <a:pPr marL="196850" indent="-193675">
              <a:lnSpc>
                <a:spcPct val="100000"/>
              </a:lnSpc>
              <a:spcBef>
                <a:spcPts val="900"/>
              </a:spcBef>
              <a:buSzPct val="97142"/>
              <a:buAutoNum type="arabicPeriod" startAt="3"/>
              <a:tabLst>
                <a:tab pos="196850" algn="l"/>
              </a:tabLst>
            </a:pPr>
            <a:r>
              <a:rPr dirty="0"/>
              <a:t>Node.js</a:t>
            </a:r>
            <a:r>
              <a:rPr dirty="0" spc="-80"/>
              <a:t> </a:t>
            </a:r>
            <a:r>
              <a:rPr dirty="0"/>
              <a:t>Foundation..</a:t>
            </a:r>
            <a:r>
              <a:rPr dirty="0" spc="-75"/>
              <a:t> </a:t>
            </a:r>
            <a:r>
              <a:rPr dirty="0" i="1">
                <a:latin typeface="Arial"/>
                <a:cs typeface="Arial"/>
              </a:rPr>
              <a:t>*Node.js</a:t>
            </a:r>
            <a:r>
              <a:rPr dirty="0" spc="-75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Runtime*</a:t>
            </a:r>
            <a:r>
              <a:rPr dirty="0"/>
              <a:t>.</a:t>
            </a:r>
            <a:r>
              <a:rPr dirty="0" spc="-80"/>
              <a:t> </a:t>
            </a:r>
            <a:r>
              <a:rPr dirty="0"/>
              <a:t>Open</a:t>
            </a:r>
            <a:r>
              <a:rPr dirty="0" spc="-75"/>
              <a:t> </a:t>
            </a:r>
            <a:r>
              <a:rPr dirty="0"/>
              <a:t>Source</a:t>
            </a:r>
            <a:r>
              <a:rPr dirty="0" spc="-75"/>
              <a:t> </a:t>
            </a:r>
            <a:r>
              <a:rPr dirty="0" spc="-10"/>
              <a:t>Foundation.</a:t>
            </a:r>
          </a:p>
          <a:p>
            <a:pPr marL="196850" indent="-193675">
              <a:lnSpc>
                <a:spcPct val="100000"/>
              </a:lnSpc>
              <a:spcBef>
                <a:spcPts val="900"/>
              </a:spcBef>
              <a:buSzPct val="97142"/>
              <a:buAutoNum type="arabicPeriod" startAt="3"/>
              <a:tabLst>
                <a:tab pos="196850" algn="l"/>
              </a:tabLst>
            </a:pPr>
            <a:r>
              <a:rPr dirty="0"/>
              <a:t>MongoDB</a:t>
            </a:r>
            <a:r>
              <a:rPr dirty="0" spc="-70"/>
              <a:t> </a:t>
            </a:r>
            <a:r>
              <a:rPr dirty="0"/>
              <a:t>Inc.</a:t>
            </a:r>
            <a:r>
              <a:rPr dirty="0" spc="-70"/>
              <a:t> </a:t>
            </a:r>
            <a:r>
              <a:rPr dirty="0" i="1">
                <a:latin typeface="Arial"/>
                <a:cs typeface="Arial"/>
              </a:rPr>
              <a:t>*MongoDB</a:t>
            </a:r>
            <a:r>
              <a:rPr dirty="0" spc="-7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Database*</a:t>
            </a:r>
            <a:r>
              <a:rPr dirty="0"/>
              <a:t>.</a:t>
            </a:r>
            <a:r>
              <a:rPr dirty="0" spc="-70"/>
              <a:t> </a:t>
            </a:r>
            <a:r>
              <a:rPr dirty="0"/>
              <a:t>Open</a:t>
            </a:r>
            <a:r>
              <a:rPr dirty="0" spc="-70"/>
              <a:t> </a:t>
            </a:r>
            <a:r>
              <a:rPr dirty="0"/>
              <a:t>Source</a:t>
            </a:r>
            <a:r>
              <a:rPr dirty="0" spc="-70"/>
              <a:t> </a:t>
            </a:r>
            <a:r>
              <a:rPr dirty="0" spc="-10"/>
              <a:t>Project.</a:t>
            </a:r>
          </a:p>
          <a:p>
            <a:pPr marL="196850" indent="-193675">
              <a:lnSpc>
                <a:spcPct val="100000"/>
              </a:lnSpc>
              <a:spcBef>
                <a:spcPts val="900"/>
              </a:spcBef>
              <a:buSzPct val="97142"/>
              <a:buAutoNum type="arabicPeriod" startAt="3"/>
              <a:tabLst>
                <a:tab pos="196850" algn="l"/>
              </a:tabLst>
            </a:pPr>
            <a:r>
              <a:rPr dirty="0"/>
              <a:t>Stripe.</a:t>
            </a:r>
            <a:r>
              <a:rPr dirty="0" spc="-70"/>
              <a:t> </a:t>
            </a:r>
            <a:r>
              <a:rPr dirty="0"/>
              <a:t>*Stripe</a:t>
            </a:r>
            <a:r>
              <a:rPr dirty="0" spc="-65"/>
              <a:t> </a:t>
            </a:r>
            <a:r>
              <a:rPr dirty="0"/>
              <a:t>Node.js</a:t>
            </a:r>
            <a:r>
              <a:rPr dirty="0" spc="-70"/>
              <a:t> </a:t>
            </a:r>
            <a:r>
              <a:rPr dirty="0"/>
              <a:t>Library*.</a:t>
            </a:r>
            <a:r>
              <a:rPr dirty="0" spc="-65"/>
              <a:t> </a:t>
            </a:r>
            <a:r>
              <a:rPr dirty="0"/>
              <a:t>Open</a:t>
            </a:r>
            <a:r>
              <a:rPr dirty="0" spc="-65"/>
              <a:t> </a:t>
            </a:r>
            <a:r>
              <a:rPr dirty="0"/>
              <a:t>Source</a:t>
            </a:r>
            <a:r>
              <a:rPr dirty="0" spc="-70"/>
              <a:t> </a:t>
            </a:r>
            <a:r>
              <a:rPr dirty="0" spc="-10"/>
              <a:t>Project</a:t>
            </a:r>
          </a:p>
          <a:p>
            <a:pPr marL="196850" indent="-193675">
              <a:lnSpc>
                <a:spcPct val="100000"/>
              </a:lnSpc>
              <a:spcBef>
                <a:spcPts val="900"/>
              </a:spcBef>
              <a:buSzPct val="97142"/>
              <a:buAutoNum type="arabicPeriod" startAt="3"/>
              <a:tabLst>
                <a:tab pos="196850" algn="l"/>
              </a:tabLst>
            </a:pPr>
            <a:r>
              <a:rPr dirty="0"/>
              <a:t>Hugging</a:t>
            </a:r>
            <a:r>
              <a:rPr dirty="0" spc="-65"/>
              <a:t> </a:t>
            </a:r>
            <a:r>
              <a:rPr dirty="0"/>
              <a:t>Face.</a:t>
            </a:r>
            <a:r>
              <a:rPr dirty="0" spc="-65"/>
              <a:t> </a:t>
            </a:r>
            <a:r>
              <a:rPr dirty="0" spc="-10" i="1">
                <a:latin typeface="Arial"/>
                <a:cs typeface="Arial"/>
              </a:rPr>
              <a:t>*Transformers</a:t>
            </a:r>
            <a:r>
              <a:rPr dirty="0" spc="-60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Library*</a:t>
            </a:r>
          </a:p>
          <a:p>
            <a:pPr marL="196850" indent="-193675">
              <a:lnSpc>
                <a:spcPct val="100000"/>
              </a:lnSpc>
              <a:spcBef>
                <a:spcPts val="900"/>
              </a:spcBef>
              <a:buSzPct val="97142"/>
              <a:buAutoNum type="arabicPeriod" startAt="3"/>
              <a:tabLst>
                <a:tab pos="196850" algn="l"/>
              </a:tabLst>
            </a:pPr>
            <a:r>
              <a:rPr dirty="0" spc="-10"/>
              <a:t>w3schools.com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RouteSharePPT</dc:title>
  <dcterms:created xsi:type="dcterms:W3CDTF">2025-12-01T22:10:48Z</dcterms:created>
  <dcterms:modified xsi:type="dcterms:W3CDTF">2025-12-01T22:10:48Z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Keynote</vt:lpwstr>
  </property>
  <property fmtid="{D5CDD505-2E9C-101B-9397-08002B2CF9AE}" pid="4" name="LastSaved">
    <vt:filetime>2025-12-01T00:00:00Z</vt:filetime>
  </property>
  <property fmtid="{D5CDD505-2E9C-101B-9397-08002B2CF9AE}" pid="5" name="Producer">
    <vt:lpwstr>macOS Version 26.1 (Build 25B78) Quartz PDFContext</vt:lpwstr>
  </property>
</Properties>
</file>